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74519"/>
            <a:ext cx="108749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2B2B2B"/>
                </a:solidFill>
              </a:rPr>
              <a:t>QuPath_Rust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154680"/>
            <a:ext cx="1087495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6E6A66"/>
                </a:solidFill>
              </a:rPr>
              <a:t>A stage-verified partial port of QuPath's cell detection</a:t>
            </a:r>
          </a:p>
          <a:p>
            <a:pPr algn="l">
              <a:lnSpc>
                <a:spcPct val="125000"/>
              </a:lnSpc>
            </a:pPr>
            <a:r>
              <a:rPr sz="2100" b="0">
                <a:solidFill>
                  <a:srgbClr val="6E6A66"/>
                </a:solidFill>
              </a:rPr>
              <a:t>— and the apparatus used to verify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06440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A66"/>
                </a:solidFill>
              </a:rPr>
              <a:t>GPLv3 · github.com/Dante-Berth/QuPath_Rust · every number here is a recorded measurement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What this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Two parts, and the second is the reason it is interesting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20824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B2B2B"/>
                </a:solidFill>
              </a:rPr>
              <a:t>A port of QuPath's WatershedCellDetection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The ten-stage detection chain, with detections stored columnarly — a struct of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arrays, one contiguous column per feature, not a per-object string-keyed 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54680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72384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B2B2B"/>
                </a:solidFill>
              </a:rPr>
              <a:t>A parity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Recorders that run inside a live QuPath build and capture its intermediate state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at every stage boundary. Committed fixtures. Tests that feed this port the same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input at the same boundary and compare pixel for pixel.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562855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59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B2B2B"/>
                </a:solidFill>
              </a:rPr>
              <a:t>Parity is measured, not assumed — and it is incomplete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91455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The open count gap is stated on slide 6 rather than in a limitations section at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the end. It is the first thing a user needs to know.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Why port it at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Not because Java is slow — Rust vs Java on equivalent code is 1–3x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20824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B2B2B"/>
                </a:solidFill>
              </a:rPr>
              <a:t>QuPath is built for interactive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A pathologist inspects objects one at a time, and a per-object string-keyed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measurement map follows sensibly from that.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54680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72384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B2B2B"/>
                </a:solidFill>
              </a:rPr>
              <a:t>Across hundreds of slides the same layout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An allocation and a hash lookup per measurement, and it scatters values that are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read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288536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B2B2B"/>
                </a:solidFill>
              </a:rPr>
              <a:t>Columnar storage removes that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17136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This is the source of the speedup — the data layout, not the language.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74920"/>
            <a:ext cx="10874959" cy="105156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285232"/>
            <a:ext cx="103263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The port is not yet a usable substitute for research work: measurements are not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implemented, and the object count does not yet match. Both are on slide 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6517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1553B"/>
                </a:solidFill>
              </a:rPr>
              <a:t>PART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08960"/>
            <a:ext cx="108749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B2B2B"/>
                </a:solidFill>
              </a:rPr>
              <a:t>The 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The detection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Every stage pinned against output recorded from a real QuPath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20824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1 · Colour deconvolution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RGB to haematoxylin/eosin optical density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7208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2 · Background subtraction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Opening by reconstruction — a top hat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593592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11296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3 · Gaussian blur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22192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ImageJ's, including its edge handling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379976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4 · Laplacian of Gaussian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08576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Boundary falls at zero, not a tuned constant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166360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84064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5 · Regional maxima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One marker per nucleus, 8-connected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2020824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0479" y="193852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6 · Labelling and watershed flood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0479" y="2249424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4-connected, thresholded at zero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447" y="2807208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0479" y="2724912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7 · Filled-region tracing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0479" y="3035808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Against ImageJ's own Wand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447" y="3593592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0479" y="3511296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8 · Mean-intensity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0479" y="3822192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Pinned on 17 recorded images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4447" y="4379976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0479" y="4297680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9 · Merge, shape split, refineBoundary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0479" y="4608576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EDM and MaximumFinder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4447" y="5166360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0479" y="5084064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10 · Area filter and seam dedup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0479" y="5394960"/>
            <a:ext cx="49528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On QuPath's own tile grid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Every stage moves the 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One 4000×4000 region of CMU-1, from `cargo run --example region`</a:t>
            </a:r>
          </a:p>
        </p:txBody>
      </p:sp>
      <p:pic>
        <p:nvPicPr>
          <p:cNvPr id="5" name="Picture 4" descr="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142" y="1993392"/>
            <a:ext cx="6657411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The split raising the count by 74% is not a bug — it is what pulling touching nuclei apart does.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Because each stage moves the count, a ladder of stage boundaries can localise where two pipelines diverge.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6517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1553B"/>
                </a:solidFill>
              </a:rPr>
              <a:t>PART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08960"/>
            <a:ext cx="108749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B2B2B"/>
                </a:solidFill>
              </a:rPr>
              <a:t>Parity — and the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The headline, stated plainly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Ten regions of CMU-1, chosen by the slide rather than by hand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938528"/>
            <a:ext cx="2540431" cy="13716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38528"/>
            <a:ext cx="2540431" cy="5486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76272"/>
            <a:ext cx="2138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C1553B"/>
                </a:solidFill>
              </a:rPr>
              <a:t>1.065x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798064"/>
            <a:ext cx="2138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A66"/>
                </a:solidFill>
              </a:rPr>
              <a:t>objects found vs QuPath cells,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A66"/>
                </a:solidFill>
              </a:rPr>
              <a:t>pooled over ten regions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6543" y="1938528"/>
            <a:ext cx="2540431" cy="13716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36543" y="1938528"/>
            <a:ext cx="2540431" cy="5486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7711" y="2176272"/>
            <a:ext cx="2138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C1553B"/>
                </a:solidFill>
              </a:rPr>
              <a:t>1.012–1.129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7711" y="2798064"/>
            <a:ext cx="2138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A66"/>
                </a:solidFill>
              </a:rPr>
              <a:t>range by region — and always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A66"/>
                </a:solidFill>
              </a:rPr>
              <a:t>in the same direction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4718" y="1938528"/>
            <a:ext cx="2540431" cy="13716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4718" y="1938528"/>
            <a:ext cx="2540431" cy="5486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6" y="2176272"/>
            <a:ext cx="2138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4A7C59"/>
                </a:solidFill>
              </a:rPr>
              <a:t>97.9%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6" y="2798064"/>
            <a:ext cx="2138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A66"/>
                </a:solidFill>
              </a:rPr>
              <a:t>of QuPath's 17,079 nuclei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A66"/>
                </a:solidFill>
              </a:rPr>
              <a:t>matched one-to-one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2893" y="1938528"/>
            <a:ext cx="2540431" cy="13716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2893" y="1938528"/>
            <a:ext cx="2540431" cy="5486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4061" y="2176272"/>
            <a:ext cx="21380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4A7C59"/>
                </a:solidFill>
              </a:rPr>
              <a:t>0.921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4061" y="2798064"/>
            <a:ext cx="2138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A66"/>
                </a:solidFill>
              </a:rPr>
              <a:t>mean Dice over those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E6A66"/>
                </a:solidFill>
              </a:rPr>
              <a:t>matched pairs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94760"/>
            <a:ext cx="1087495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2B2B2B"/>
                </a:solidFill>
              </a:rPr>
              <a:t>So the gap is a population of extra objects on sparse tissue —</a:t>
            </a:r>
          </a:p>
          <a:p>
            <a:pPr algn="l">
              <a:lnSpc>
                <a:spcPct val="125000"/>
              </a:lnSpc>
            </a:pPr>
            <a:r>
              <a:rPr sz="2400" b="1">
                <a:solidFill>
                  <a:srgbClr val="2B2B2B"/>
                </a:solidFill>
              </a:rPr>
              <a:t>not boundaries falling in the wrong place.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74920"/>
            <a:ext cx="108749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E6A66"/>
                </a:solidFill>
              </a:rPr>
              <a:t>A single region was quoted for several sessions — 1.035x. That number is still exactly right, and it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E6A66"/>
                </a:solidFill>
              </a:rPr>
              <a:t>was the wrong number to quote: it is one region, measured once, and it is the best of 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The gap tracks density, not seams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Each point is one region. Diamonds are single-tile: no seams, no duplicates removed</a:t>
            </a:r>
          </a:p>
        </p:txBody>
      </p:sp>
      <p:pic>
        <p:nvPicPr>
          <p:cNvPr id="5" name="Picture 4" descr="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311" y="1993392"/>
            <a:ext cx="5473073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Dense regions agree to within 1–3.5%; sparse ones diverge by 6–13%. The seam count does not sort the table — density does.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That is what rules out tile-seam resolution (D-008) as the whole cause: three of these regions have no seams at 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Walking the ladder splits the gap in two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Both sides' counts at four stage boundaries, three whole regions at 2048×2048</a:t>
            </a:r>
          </a:p>
        </p:txBody>
      </p:sp>
      <p:pic>
        <p:nvPicPr>
          <p:cNvPr id="5" name="Picture 4" descr="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561" y="1993392"/>
            <a:ext cx="5682572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The first rung is flat across density (1.044 / 1.047 / 1.051), so that ~4.7% is density-independent and is not what the gap tracks.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The maxima and candidate rungs are identical, which rules out the labelling and the flood. The density split opens at the mean-intensity filter —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and that filter is itself pinned on 17 images, so what differs is not the filter but what it measures.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Where the search stands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Each narrowing has cost a hypothesis rather than confirmed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313447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1553B"/>
                </a:solidFill>
              </a:rPr>
              <a:t>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20855" y="1938528"/>
            <a:ext cx="161197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1553B"/>
                </a:solidFill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0848" y="1938528"/>
            <a:ext cx="574446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1553B"/>
                </a:solidFill>
              </a:rPr>
              <a:t>How it was ruled 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04288"/>
            <a:ext cx="10874959" cy="12700"/>
          </a:xfrm>
          <a:prstGeom prst="rect">
            <a:avLst/>
          </a:prstGeom>
          <a:solidFill>
            <a:srgbClr val="D6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50592"/>
            <a:ext cx="31344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</a:rPr>
              <a:t>Colour deconvolution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0855" y="2450592"/>
            <a:ext cx="161197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Ruled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0848" y="2450592"/>
            <a:ext cx="574446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Composed with the decode beneath it, on real tissue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944368"/>
            <a:ext cx="31344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</a:rPr>
              <a:t>JPEG decode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0855" y="2944368"/>
            <a:ext cx="161197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Ruled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0848" y="2944368"/>
            <a:ext cx="574446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Against OpenSlide, to within one channel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438144"/>
            <a:ext cx="31344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</a:rPr>
              <a:t>Background estimate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0855" y="3438144"/>
            <a:ext cx="161197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Ruled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0848" y="3438144"/>
            <a:ext cx="574446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Bit for bit at 2048×2048, on 12.5 million pixels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31920"/>
            <a:ext cx="31344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</a:rPr>
              <a:t>Labelling and flood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0855" y="3931920"/>
            <a:ext cx="161197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Ruled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0848" y="3931920"/>
            <a:ext cx="574446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Maxima and candidate rungs are identical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425696"/>
            <a:ext cx="31344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</a:rPr>
              <a:t>Merge and shape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0855" y="4425696"/>
            <a:ext cx="161197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Ruled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0848" y="4425696"/>
            <a:ext cx="574446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Pixel for pixel on all eight recorded crops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919472"/>
            <a:ext cx="31344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</a:rPr>
              <a:t>Blur, Laplacian, regional maxima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20855" y="4919472"/>
            <a:ext cx="161197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Remaining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0848" y="4919472"/>
            <a:ext cx="574446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The ~4.7% density-independent excess lives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413248"/>
            <a:ext cx="313447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2B2B"/>
                </a:solidFill>
              </a:rPr>
              <a:t>What the filter measures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0855" y="5413248"/>
            <a:ext cx="161197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Remaining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0848" y="5413248"/>
            <a:ext cx="574446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A66"/>
                </a:solidFill>
              </a:rPr>
              <a:t>The density-dependent half — ipToMeasure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25312"/>
            <a:ext cx="1087495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E6A66"/>
                </a:solidFill>
              </a:rPr>
              <a:t>Seven of ten stages excluded against QuPath on real tissue, pixel for pixel. Tracked as D-009 in DIVERGENCES.md.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The nuclei themselves, not just how many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Against the mask QuPath recorded for every nucleus it detected, over three single-tile regions</a:t>
            </a:r>
          </a:p>
        </p:txBody>
      </p:sp>
      <p:pic>
        <p:nvPicPr>
          <p:cNvPr id="5" name="Picture 4" descr="d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505" y="1993392"/>
            <a:ext cx="5830685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Pooled Dice involves no matching decision, so read it first. Both sides are the pixels each pipeline actually labelled —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comparing QuPath's mask against a rasterisation of our polygon would have measured our rasteriser instead.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The third region has the lowest Dice and the worst count ratio: the same density-dependent gap, now visible as shape.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6517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1553B"/>
                </a:solidFill>
              </a:rPr>
              <a:t>PART THREE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08960"/>
            <a:ext cx="108749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B2B2B"/>
                </a:solidFill>
              </a:rPr>
              <a:t>The 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Three bugs that looked completely fine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Each produced an entirely plausible image. None would have been caught by a count.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20824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B2B2B"/>
                </a:solidFill>
              </a:rPr>
              <a:t>A morphological opening, where a top hat was wanted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The output is a smooth, believable background estimate either 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80360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98064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B2B2B"/>
                </a:solidFill>
              </a:rPr>
              <a:t>The DAB stain vector, used under the name EOSIN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A 52% error on the leading coefficient. The channel still looked like a stain channel.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739896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B2B2B"/>
                </a:solidFill>
              </a:rPr>
              <a:t>Aperio JPEG tiles carry no Adobe APP14 marker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68496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So a conforming decoder applies the wrong colour transform. The tissue still looked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6E6A66"/>
                </a:solidFill>
              </a:rPr>
              <a:t>like tissue.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892040"/>
            <a:ext cx="10874959" cy="132588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120640"/>
            <a:ext cx="103263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B2B2B"/>
                </a:solidFill>
              </a:rPr>
              <a:t>A count is a one-dimensional projection in which errors cancel.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B2B2B"/>
                </a:solidFill>
              </a:rPr>
              <a:t>Visual inspection checks whether output is plausible, not whether it is the same.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So parity is the test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The rule CONTRIBUTING.md enforces, and why each half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20824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B2B2B"/>
                </a:solidFill>
              </a:rPr>
              <a:t>Record, don't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6E6A66"/>
                </a:solidFill>
              </a:rPr>
              <a:t>Recorders run inside a live QuPath build and capture its intermediate state at each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6E6A66"/>
                </a:solidFill>
              </a:rPr>
              <a:t>stage boundary. Checking against a reading of QuPath's source is not a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063240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80944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B2B2B"/>
                </a:solidFill>
              </a:rPr>
              <a:t>Compare at the boundary, pixel for pixel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6E6A66"/>
                </a:solidFill>
              </a:rPr>
              <a:t>Feed this port the same input at the same stage boundary — so a divergence is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6E6A66"/>
                </a:solidFill>
              </a:rPr>
              <a:t>localised to one stage instead of showing up as a different total.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105656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B2B2B"/>
                </a:solidFill>
              </a:rPr>
              <a:t>Mutation-check every fixture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6E6A66"/>
                </a:solidFill>
              </a:rPr>
              <a:t>No test is trusted until it has been shown able to fail. A fixture that cannot fail is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6E6A66"/>
                </a:solidFill>
              </a:rPr>
              <a:t>a green light wired to nothing.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148072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65776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B2B2B"/>
                </a:solidFill>
              </a:rPr>
              <a:t>Record the deliberate differences too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76672"/>
            <a:ext cx="106189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6E6A66"/>
                </a:solidFill>
              </a:rPr>
              <a:t>Matching QuPath includes matching its mistakes. "More correct than QuPath" is a bug</a:t>
            </a:r>
          </a:p>
          <a:p>
            <a:pPr algn="l">
              <a:lnSpc>
                <a:spcPct val="118000"/>
              </a:lnSpc>
            </a:pPr>
            <a:r>
              <a:rPr sz="1300" b="0">
                <a:solidFill>
                  <a:srgbClr val="6E6A66"/>
                </a:solidFill>
              </a:rPr>
              <a:t>here — ten entries in DIVERGENCES.md.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651760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1553B"/>
                </a:solidFill>
              </a:rPr>
              <a:t>PART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08960"/>
            <a:ext cx="108749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B2B2B"/>
                </a:solidFill>
              </a:rPr>
              <a:t>Using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The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A viewer, a project browser, detection, and GeoJSON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20824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4929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Open a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9424"/>
            <a:ext cx="4929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Aperio SVS and tiled TIFF, pure Rust — no OpenSlide, no Java.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88920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06624"/>
            <a:ext cx="4929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Pan, zoom,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929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`d` detects in what is on screen, on a thread, with a real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progress fraction and a way to stop.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831336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4929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Save as GeoJSON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9936"/>
            <a:ext cx="4929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`s` writes what QuPath's importer reads. Level-0 pixels throughout.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99432"/>
            <a:ext cx="68580" cy="146304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17136"/>
            <a:ext cx="4929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B2B2B"/>
                </a:solidFill>
              </a:rPr>
              <a:t>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28032"/>
            <a:ext cx="49299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6E6A66"/>
                </a:solidFill>
              </a:rPr>
              <a:t>Opens and writes QuPath's own .qpproj layout.</a:t>
            </a:r>
          </a:p>
        </p:txBody>
      </p:sp>
      <p:pic>
        <p:nvPicPr>
          <p:cNvPr id="17" name="Picture 16" descr="viewer-deta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307" y="2029968"/>
            <a:ext cx="5186019" cy="38895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47307" y="6065786"/>
            <a:ext cx="518601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E6A66"/>
                </a:solidFill>
              </a:rPr>
              <a:t>The viewer claims no parity and no speedup — QuPath's viewer is not what is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6E6A66"/>
                </a:solidFill>
              </a:rPr>
              <a:t>being ported.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Two things users get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Both produce a plausible answer, which is why they are on a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938528"/>
            <a:ext cx="10874959" cy="1874519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1032631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1553B"/>
                </a:solidFill>
              </a:rPr>
              <a:t>Detection does not read the level you are looking 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88336"/>
            <a:ext cx="103263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E6A66"/>
                </a:solidFill>
              </a:rPr>
              <a:t>It reads the coarsest level still at 1.0 µm/px or finer. The viewer picks a level to look at; detection picks one to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E6A66"/>
                </a:solidFill>
              </a:rPr>
              <a:t>measure at. At CMU-1's level 2 a pixel is 8 µm and a nucleus is 5–10, so what survives the filters is tissue —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E6A66"/>
                </a:solidFill>
              </a:rPr>
              <a:t>reported as a plausible object count. A fitted whole-slide view once found 1,638 objects where one screenful found 1,357.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087368"/>
            <a:ext cx="10874959" cy="1874519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325112"/>
            <a:ext cx="1032631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1553B"/>
                </a:solidFill>
              </a:rPr>
              <a:t>What comes out are nuclei, not cells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837176"/>
            <a:ext cx="103263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E6A66"/>
                </a:solidFill>
              </a:rPr>
              <a:t>Cell expansion and boundary smoothing are ported and pinned in qupath-watershed, but nothing in the pipeline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E6A66"/>
                </a:solidFill>
              </a:rPr>
              <a:t>calls them. So the outlines are raw pixel boundaries, and the counts on slide 8 compare our raw nuclei against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6E6A66"/>
                </a:solidFill>
              </a:rPr>
              <a:t>QuPath's smoothed cells. A parameter the pipeline ignores gets no control in the panel, rather than an inert 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And it is fast — read the middle 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8749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E6A66"/>
                </a:solidFill>
              </a:rPr>
              <a:t>The 4000×4000 region QuPath was profiled on, same slide, same parameters</a:t>
            </a:r>
          </a:p>
        </p:txBody>
      </p:sp>
      <p:pic>
        <p:nvPicPr>
          <p:cNvPr id="5" name="Picture 4" descr="endto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317" y="1993392"/>
            <a:ext cx="561106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669280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QuPath's profile was taken single-threaded, and QuPath parallelises across tiles in real use, so the 15.6x is not the honest comparison.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Read both bars as generous to us: QuPath's 15.87 s includes computing the measurements this pipeline does not implement.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E6A66"/>
                </a:solidFill>
              </a:rPr>
              <a:t>A 6.5% density-dependent over-count is not a rounding difference — what is fast here is not yet what QuPath computes.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B2B2B"/>
                </a:solidFill>
              </a:rPr>
              <a:t>Where to go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70432"/>
            <a:ext cx="1371600" cy="38100"/>
          </a:xfrm>
          <a:prstGeom prst="rect">
            <a:avLst/>
          </a:prstGeom>
          <a:solidFill>
            <a:srgbClr val="C1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324322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1553B"/>
                </a:solidFill>
              </a:rPr>
              <a:t>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9605" y="1600200"/>
            <a:ext cx="737570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1553B"/>
                </a:solidFill>
              </a:rPr>
              <a:t>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10874959" cy="12700"/>
          </a:xfrm>
          <a:prstGeom prst="rect">
            <a:avLst/>
          </a:prstGeom>
          <a:solidFill>
            <a:srgbClr val="D6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12264"/>
            <a:ext cx="324322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2B2B"/>
                </a:solidFill>
              </a:rPr>
              <a:t>docs/guide/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9605" y="2112264"/>
            <a:ext cx="737570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A66"/>
                </a:solidFill>
              </a:rPr>
              <a:t>The user guide — opening a slide, detecting, exporting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06040"/>
            <a:ext cx="324322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2B2B"/>
                </a:solidFill>
              </a:rPr>
              <a:t>docs/guide/parity.md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9605" y="2606040"/>
            <a:ext cx="737570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A66"/>
                </a:solidFill>
              </a:rPr>
              <a:t>What to trust, before relying on any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99816"/>
            <a:ext cx="324322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2B2B"/>
                </a:solidFill>
              </a:rPr>
              <a:t>DIVERGENCES.md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605" y="3099816"/>
            <a:ext cx="737570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A66"/>
                </a:solidFill>
              </a:rPr>
              <a:t>Every deliberate difference from QuPath, D-001 to D-010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593592"/>
            <a:ext cx="324322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2B2B"/>
                </a:solidFill>
              </a:rPr>
              <a:t>docs/dev/MEMO.md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9605" y="3593592"/>
            <a:ext cx="737570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A66"/>
                </a:solidFill>
              </a:rPr>
              <a:t>Twenty minutes of orientation; §2 is 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87368"/>
            <a:ext cx="324322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B2B2B"/>
                </a:solidFill>
              </a:rPr>
              <a:t>CONTRIBUTING.md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9605" y="4087368"/>
            <a:ext cx="737570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A66"/>
                </a:solidFill>
              </a:rPr>
              <a:t>The fixture-and-mutation rule for a new parity claim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029200"/>
            <a:ext cx="10874959" cy="1143000"/>
          </a:xfrm>
          <a:prstGeom prst="rect">
            <a:avLst/>
          </a:prstGeom>
          <a:solidFill>
            <a:srgbClr val="F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285232"/>
            <a:ext cx="1032631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B2B2B"/>
                </a:solidFill>
              </a:rPr>
              <a:t>The repository is usable as a worked example of stage-boundary verification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B2B2B"/>
                </a:solidFill>
              </a:rPr>
              <a:t>as much as it is a detection library.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